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29184" y="173736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000" b="1">
                <a:solidFill>
                  <a:srgbClr val="111827"/>
                </a:solidFill>
              </a:rPr>
              <a:t>Project Handover</a:t>
            </a:r>
          </a:p>
        </p:txBody>
      </p:sp>
      <p:cxnSp>
        <p:nvCxnSpPr>
          <p:cNvPr id="3" name="Blue Divider"/>
          <p:cNvCxnSpPr/>
          <p:nvPr/>
        </p:nvCxnSpPr>
        <p:spPr>
          <a:xfrm>
            <a:off x="347472" y="804672"/>
            <a:ext cx="11356848" cy="0"/>
          </a:xfrm>
          <a:prstGeom prst="line">
            <a:avLst/>
          </a:prstGeom>
          <a:ln w="34290">
            <a:solidFill>
              <a:srgbClr val="008CFF"/>
            </a:solidFill>
          </a:ln>
        </p:spPr>
      </p:cxnSp>
      <p:sp>
        <p:nvSpPr>
          <p:cNvPr id="4" name="Handover Statement"/>
          <p:cNvSpPr txBox="1"/>
          <p:nvPr/>
        </p:nvSpPr>
        <p:spPr>
          <a:xfrm>
            <a:off x="384048" y="1014984"/>
            <a:ext cx="11155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50">
                <a:solidFill>
                  <a:srgbClr val="111827"/>
                </a:solidFill>
              </a:rPr>
              <a:t>Tkxel uses a </a:t>
            </a:r>
            <a:r>
              <a:rPr lang="en-US" sz="1250" b="1">
                <a:solidFill>
                  <a:srgbClr val="111827"/>
                </a:solidFill>
              </a:rPr>
              <a:t>“work made for hire”</a:t>
            </a:r>
            <a:r>
              <a:rPr lang="en-US" sz="1250">
                <a:solidFill>
                  <a:srgbClr val="111827"/>
                </a:solidFill>
              </a:rPr>
              <a:t> model, to ensure successful transfer of all intellectual property rights to the customer upon project completion.</a:t>
            </a:r>
          </a:p>
        </p:txBody>
      </p:sp>
      <p:sp>
        <p:nvSpPr>
          <p:cNvPr id="5" name="Functional Documentation Panel"/>
          <p:cNvSpPr/>
          <p:nvPr/>
        </p:nvSpPr>
        <p:spPr>
          <a:xfrm>
            <a:off x="1143000" y="1627632"/>
            <a:ext cx="3246120" cy="3977640"/>
          </a:xfrm>
          <a:prstGeom prst="rect">
            <a:avLst/>
          </a:prstGeom>
          <a:solidFill>
            <a:srgbClr val="D7E5FF"/>
          </a:solidFill>
          <a:ln w="12700">
            <a:solidFill>
              <a:srgbClr val="D7E5FF"/>
            </a:solidFill>
          </a:ln>
        </p:spPr>
      </p:sp>
      <p:sp>
        <p:nvSpPr>
          <p:cNvPr id="6" name="Functional Documentation Heading"/>
          <p:cNvSpPr txBox="1"/>
          <p:nvPr/>
        </p:nvSpPr>
        <p:spPr>
          <a:xfrm>
            <a:off x="1371600" y="1883664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 b="1">
                <a:solidFill>
                  <a:srgbClr val="0057C2"/>
                </a:solidFill>
              </a:rPr>
              <a:t>Functional</a:t>
            </a:r>
          </a:p>
          <a:p>
            <a:pPr algn="ctr"/>
            <a:r>
              <a:rPr lang="en-US" sz="1800" b="1">
                <a:solidFill>
                  <a:srgbClr val="0057C2"/>
                </a:solidFill>
              </a:rPr>
              <a:t>Documentation</a:t>
            </a:r>
          </a:p>
        </p:txBody>
      </p:sp>
      <p:sp>
        <p:nvSpPr>
          <p:cNvPr id="7" name="Functional Documentation Bullets"/>
          <p:cNvSpPr txBox="1"/>
          <p:nvPr/>
        </p:nvSpPr>
        <p:spPr>
          <a:xfrm>
            <a:off x="1527048" y="2697480"/>
            <a:ext cx="2578608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Product Backlog including requirements, functional &amp; UI/UX specifications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Non functional specifications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Performance specifications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Security specifications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Help Documentation</a:t>
            </a:r>
          </a:p>
        </p:txBody>
      </p:sp>
      <p:sp>
        <p:nvSpPr>
          <p:cNvPr id="8" name="Technical Documentation Panel"/>
          <p:cNvSpPr/>
          <p:nvPr/>
        </p:nvSpPr>
        <p:spPr>
          <a:xfrm>
            <a:off x="4443984" y="1627632"/>
            <a:ext cx="3246120" cy="3977640"/>
          </a:xfrm>
          <a:prstGeom prst="rect">
            <a:avLst/>
          </a:prstGeom>
          <a:solidFill>
            <a:srgbClr val="D7E5FF"/>
          </a:solidFill>
          <a:ln w="12700">
            <a:solidFill>
              <a:srgbClr val="D7E5FF"/>
            </a:solidFill>
          </a:ln>
        </p:spPr>
      </p:sp>
      <p:sp>
        <p:nvSpPr>
          <p:cNvPr id="9" name="Technical Documentation Heading"/>
          <p:cNvSpPr txBox="1"/>
          <p:nvPr/>
        </p:nvSpPr>
        <p:spPr>
          <a:xfrm>
            <a:off x="4672584" y="1883664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 b="1">
                <a:solidFill>
                  <a:srgbClr val="0057C2"/>
                </a:solidFill>
              </a:rPr>
              <a:t>Technical</a:t>
            </a:r>
          </a:p>
          <a:p>
            <a:pPr algn="ctr"/>
            <a:r>
              <a:rPr lang="en-US" sz="1800" b="1">
                <a:solidFill>
                  <a:srgbClr val="0057C2"/>
                </a:solidFill>
              </a:rPr>
              <a:t>Documentation</a:t>
            </a:r>
          </a:p>
        </p:txBody>
      </p:sp>
      <p:sp>
        <p:nvSpPr>
          <p:cNvPr id="10" name="Technical Documentation Bullets"/>
          <p:cNvSpPr txBox="1"/>
          <p:nvPr/>
        </p:nvSpPr>
        <p:spPr>
          <a:xfrm>
            <a:off x="4828032" y="2697480"/>
            <a:ext cx="2578608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Solution Architecture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Logical Architecture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Physical Architecture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Deployment Architecture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Design Diagram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Class diagram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Object Model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Sequence Diagrams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ER Diagram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Data Dictionary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Use-case Diagram</a:t>
            </a:r>
          </a:p>
        </p:txBody>
      </p:sp>
      <p:sp>
        <p:nvSpPr>
          <p:cNvPr id="11" name="Operational Documentation Panel"/>
          <p:cNvSpPr/>
          <p:nvPr/>
        </p:nvSpPr>
        <p:spPr>
          <a:xfrm>
            <a:off x="7744968" y="1627632"/>
            <a:ext cx="3246120" cy="3977640"/>
          </a:xfrm>
          <a:prstGeom prst="rect">
            <a:avLst/>
          </a:prstGeom>
          <a:solidFill>
            <a:srgbClr val="D7E5FF"/>
          </a:solidFill>
          <a:ln w="12700">
            <a:solidFill>
              <a:srgbClr val="D7E5FF"/>
            </a:solidFill>
          </a:ln>
        </p:spPr>
      </p:sp>
      <p:sp>
        <p:nvSpPr>
          <p:cNvPr id="12" name="Operational Documentation Heading"/>
          <p:cNvSpPr txBox="1"/>
          <p:nvPr/>
        </p:nvSpPr>
        <p:spPr>
          <a:xfrm>
            <a:off x="7973568" y="1883664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 b="1">
                <a:solidFill>
                  <a:srgbClr val="0057C2"/>
                </a:solidFill>
              </a:rPr>
              <a:t>Operational</a:t>
            </a:r>
          </a:p>
          <a:p>
            <a:pPr algn="ctr"/>
            <a:r>
              <a:rPr lang="en-US" sz="1800" b="1">
                <a:solidFill>
                  <a:srgbClr val="0057C2"/>
                </a:solidFill>
              </a:rPr>
              <a:t>Documentation</a:t>
            </a:r>
          </a:p>
        </p:txBody>
      </p:sp>
      <p:sp>
        <p:nvSpPr>
          <p:cNvPr id="13" name="Operational Documentation Bullets"/>
          <p:cNvSpPr txBox="1"/>
          <p:nvPr/>
        </p:nvSpPr>
        <p:spPr>
          <a:xfrm>
            <a:off x="8129016" y="2697480"/>
            <a:ext cx="2578608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Deployment guide</a:t>
            </a:r>
          </a:p>
          <a:p>
            <a:pPr marL="228600" indent="-171450">
              <a:buChar char="•"/>
            </a:pPr>
            <a:r>
              <a:rPr lang="en-US" sz="1050">
                <a:solidFill>
                  <a:srgbClr val="111827"/>
                </a:solidFill>
              </a:rPr>
              <a:t>Configuration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kxel Handover">
  <a:themeElements>
    <a:clrScheme name="Tkxel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008CFF"/>
      </a:accent1>
      <a:accent2>
        <a:srgbClr val="0057C2"/>
      </a:accent2>
      <a:accent3>
        <a:srgbClr val="D7E5FF"/>
      </a:accent3>
      <a:accent4>
        <a:srgbClr val="93C5FD"/>
      </a:accent4>
      <a:accent5>
        <a:srgbClr val="60A5FA"/>
      </a:accent5>
      <a:accent6>
        <a:srgbClr val="2563EB"/>
      </a:accent6>
      <a:hlink>
        <a:srgbClr val="0057C2"/>
      </a:hlink>
      <a:folHlink>
        <a:srgbClr val="1D4ED8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Tkxel Handover</vt:lpstr>
    </vt:vector>
  </TitlesOfParts>
  <Company>Tkxel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Handover</dc:title>
  <dc:creator>Tkxel KAM Intelligence Platform</dc:creator>
  <cp:lastModifiedBy>Tkxel KAM Intelligence Platform</cp:lastModifiedBy>
  <dcterms:created xsi:type="dcterms:W3CDTF">2026-06-09T11:39:06Z</dcterms:created>
  <dcterms:modified xsi:type="dcterms:W3CDTF">2026-06-09T11:39:06Z</dcterms:modified>
</cp:coreProperties>
</file>